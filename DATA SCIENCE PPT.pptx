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9" r:id="rId3"/>
    <p:sldId id="309" r:id="rId4"/>
    <p:sldId id="311" r:id="rId5"/>
    <p:sldId id="313" r:id="rId6"/>
    <p:sldId id="312" r:id="rId7"/>
    <p:sldId id="310" r:id="rId8"/>
    <p:sldId id="314" r:id="rId9"/>
    <p:sldId id="315" r:id="rId10"/>
    <p:sldId id="316" r:id="rId11"/>
    <p:sldId id="317" r:id="rId12"/>
    <p:sldId id="318" r:id="rId13"/>
    <p:sldId id="319"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11753-DC4B-46B5-929F-23922C7551FA}" type="datetimeFigureOut">
              <a:rPr lang="en-IN" smtClean="0"/>
              <a:t>01-11-2025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F99AF0-7E94-44D1-9A5D-1D04A6B0571C}" type="slidenum">
              <a:rPr lang="en-IN" smtClean="0"/>
              <a:t>‹#›</a:t>
            </a:fld>
            <a:endParaRPr lang="en-IN"/>
          </a:p>
        </p:txBody>
      </p:sp>
    </p:spTree>
    <p:extLst>
      <p:ext uri="{BB962C8B-B14F-4D97-AF65-F5344CB8AC3E}">
        <p14:creationId xmlns:p14="http://schemas.microsoft.com/office/powerpoint/2010/main" val="3672779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1" name="Google Shape;1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224229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2E51D-9D99-6401-85E2-90B0CD67C5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FBA730-7260-9200-F034-2351C484B1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6F324A-879D-4540-6352-CE318AA40696}"/>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5" name="Footer Placeholder 4">
            <a:extLst>
              <a:ext uri="{FF2B5EF4-FFF2-40B4-BE49-F238E27FC236}">
                <a16:creationId xmlns:a16="http://schemas.microsoft.com/office/drawing/2014/main" id="{DAD67BDF-40A9-8DE3-78BF-656812B354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F7A96B-79B3-F2AD-F4FE-D8A01846C97A}"/>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1140674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21978-A047-BFF0-704F-A7F27D0ED2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2C9B8B-D762-D0AC-9EFC-EE1CB9979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CEB60-8651-4627-FBB7-74874C3EED2E}"/>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5" name="Footer Placeholder 4">
            <a:extLst>
              <a:ext uri="{FF2B5EF4-FFF2-40B4-BE49-F238E27FC236}">
                <a16:creationId xmlns:a16="http://schemas.microsoft.com/office/drawing/2014/main" id="{6D3C6736-E64A-FB51-7030-AD4CC62BE8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C458E8-293A-1D49-56C2-B8EF9382396C}"/>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230256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97D-4FCA-F5F5-0CC4-6BE62D720E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BFFFA7-DB53-409D-5F0E-E3316FFDDE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73FD77-7882-57DC-8393-87E609D801A7}"/>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5" name="Footer Placeholder 4">
            <a:extLst>
              <a:ext uri="{FF2B5EF4-FFF2-40B4-BE49-F238E27FC236}">
                <a16:creationId xmlns:a16="http://schemas.microsoft.com/office/drawing/2014/main" id="{1EDA2241-D916-B237-CE37-A509D5BFC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C0AF60-9C14-6F43-1ED6-E2F7B86C9E40}"/>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3146438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BFAF-F673-8471-64C8-753E1FC2EA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965292-B468-E3E2-639E-4C32A04BB9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E412B-602A-3CC4-F602-BCB2B621F3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904B43-8074-6896-7185-7C75ED1D2312}"/>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6" name="Footer Placeholder 5">
            <a:extLst>
              <a:ext uri="{FF2B5EF4-FFF2-40B4-BE49-F238E27FC236}">
                <a16:creationId xmlns:a16="http://schemas.microsoft.com/office/drawing/2014/main" id="{65618471-F1F3-CB09-8EF1-8B68D4772A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D7E0D0-A719-168D-3C56-4328E3C68534}"/>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3801473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2F5AB-C04F-92E5-62CC-29266CA98F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3355D5-D62F-28A1-D8F2-6E222C4FD0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6F2867-D4B6-9427-A5A1-A778E52035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6A3F8B-1FB0-EA6F-50DA-5D05513C7E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E3790C-7A55-FCCC-7645-89D9EB8B2A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B1D652-369E-964B-42AA-D1EDD96C9594}"/>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8" name="Footer Placeholder 7">
            <a:extLst>
              <a:ext uri="{FF2B5EF4-FFF2-40B4-BE49-F238E27FC236}">
                <a16:creationId xmlns:a16="http://schemas.microsoft.com/office/drawing/2014/main" id="{1A5D78AE-D627-1804-3617-486335C911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43294F-D324-01E6-E4E9-C21A36B8C205}"/>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2946182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D35BF-AB5E-57FF-0214-934A60A060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AC9A2E-90E1-0E7A-7163-BB2AAC5A128E}"/>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4" name="Footer Placeholder 3">
            <a:extLst>
              <a:ext uri="{FF2B5EF4-FFF2-40B4-BE49-F238E27FC236}">
                <a16:creationId xmlns:a16="http://schemas.microsoft.com/office/drawing/2014/main" id="{2CB5171A-FFB5-E477-11D2-F653799B75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02DFC3-3D26-D2E4-0E21-6E843D0887A5}"/>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92492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DEA7E2-737F-4FAA-4289-DF83E85310AF}"/>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3" name="Footer Placeholder 2">
            <a:extLst>
              <a:ext uri="{FF2B5EF4-FFF2-40B4-BE49-F238E27FC236}">
                <a16:creationId xmlns:a16="http://schemas.microsoft.com/office/drawing/2014/main" id="{50EC33CB-A815-6CE4-B7EF-769FCCCF83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A361B4-9AD3-0B0D-2AEB-104994BA2FF2}"/>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249551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9A8D4-1FAF-206D-4752-B6D5FACEA8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CF85D1-5571-6E4E-2674-4000C99576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5E7CC5-7251-3922-3C2D-AE98BBA26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6A1F54-2096-A514-AFF2-059A1FF7E05C}"/>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6" name="Footer Placeholder 5">
            <a:extLst>
              <a:ext uri="{FF2B5EF4-FFF2-40B4-BE49-F238E27FC236}">
                <a16:creationId xmlns:a16="http://schemas.microsoft.com/office/drawing/2014/main" id="{34825582-5F30-9EFA-4536-D5CFC9FA64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F6B585-1252-F28F-55C1-0ED765F218CA}"/>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20690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5BDF1-0706-402D-1E87-532D6DE1FB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B78F10-5416-F157-BDF6-E56DB422A7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954CA6-C93E-619A-4DBE-5E5BD5FBD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B29D76-CE2D-75AA-478F-FAC98CA74F24}"/>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6" name="Footer Placeholder 5">
            <a:extLst>
              <a:ext uri="{FF2B5EF4-FFF2-40B4-BE49-F238E27FC236}">
                <a16:creationId xmlns:a16="http://schemas.microsoft.com/office/drawing/2014/main" id="{0891AD20-22FC-32F6-AEDC-5698A4194D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FE3A24-F2D8-E98B-76F5-81E36D769925}"/>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2499581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7D09-9CB8-438D-CE58-88FA7602D6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F9150A-7CF2-0CCB-02CA-CFCE1CAD92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6E6A9B-5EEB-19FB-4BDB-84FCFB949CCE}"/>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5" name="Footer Placeholder 4">
            <a:extLst>
              <a:ext uri="{FF2B5EF4-FFF2-40B4-BE49-F238E27FC236}">
                <a16:creationId xmlns:a16="http://schemas.microsoft.com/office/drawing/2014/main" id="{67AD4323-69B0-F6B8-8CAD-B87AF3C046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25220F-6D43-5CA9-1146-A42F06BDC2B3}"/>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3218625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11DF45-3913-3745-CE7F-284CAB8532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545C6F-0B33-25A0-1AF5-E94B98C01E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54F634-1333-DB7D-2487-8C0F327A40F7}"/>
              </a:ext>
            </a:extLst>
          </p:cNvPr>
          <p:cNvSpPr>
            <a:spLocks noGrp="1"/>
          </p:cNvSpPr>
          <p:nvPr>
            <p:ph type="dt" sz="half" idx="10"/>
          </p:nvPr>
        </p:nvSpPr>
        <p:spPr/>
        <p:txBody>
          <a:bodyPr/>
          <a:lstStyle/>
          <a:p>
            <a:fld id="{638EF39D-7A19-4238-B51A-556F5331A243}" type="datetimeFigureOut">
              <a:rPr lang="en-IN" smtClean="0"/>
              <a:t>01-11-2025</a:t>
            </a:fld>
            <a:endParaRPr lang="en-IN"/>
          </a:p>
        </p:txBody>
      </p:sp>
      <p:sp>
        <p:nvSpPr>
          <p:cNvPr id="5" name="Footer Placeholder 4">
            <a:extLst>
              <a:ext uri="{FF2B5EF4-FFF2-40B4-BE49-F238E27FC236}">
                <a16:creationId xmlns:a16="http://schemas.microsoft.com/office/drawing/2014/main" id="{FB822EE2-DE13-1004-5B40-CAA755EA48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2BB119-F049-4BE7-1466-7A745DF3A36C}"/>
              </a:ext>
            </a:extLst>
          </p:cNvPr>
          <p:cNvSpPr>
            <a:spLocks noGrp="1"/>
          </p:cNvSpPr>
          <p:nvPr>
            <p:ph type="sldNum" sz="quarter" idx="12"/>
          </p:nvPr>
        </p:nvSpPr>
        <p:spPr/>
        <p:txBody>
          <a:bodyPr/>
          <a:lstStyle/>
          <a:p>
            <a:fld id="{539C1AF7-981E-4E5E-8E48-04A13CFCB12A}" type="slidenum">
              <a:rPr lang="en-IN" smtClean="0"/>
              <a:t>‹#›</a:t>
            </a:fld>
            <a:endParaRPr lang="en-IN"/>
          </a:p>
        </p:txBody>
      </p:sp>
    </p:spTree>
    <p:extLst>
      <p:ext uri="{BB962C8B-B14F-4D97-AF65-F5344CB8AC3E}">
        <p14:creationId xmlns:p14="http://schemas.microsoft.com/office/powerpoint/2010/main" val="1757546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43965-6AD9-DE8D-D377-ED9C66E3DB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6A317C-7387-63E7-CCD2-B121946E8F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CD6534-738C-E626-CD26-86D567D6EB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EF39D-7A19-4238-B51A-556F5331A243}" type="datetimeFigureOut">
              <a:rPr lang="en-IN" smtClean="0"/>
              <a:t>01-11-2025</a:t>
            </a:fld>
            <a:endParaRPr lang="en-IN"/>
          </a:p>
        </p:txBody>
      </p:sp>
      <p:sp>
        <p:nvSpPr>
          <p:cNvPr id="5" name="Footer Placeholder 4">
            <a:extLst>
              <a:ext uri="{FF2B5EF4-FFF2-40B4-BE49-F238E27FC236}">
                <a16:creationId xmlns:a16="http://schemas.microsoft.com/office/drawing/2014/main" id="{67DA1C8B-9A3A-71E9-5D70-FEF6D1FFEE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F6DD67-8C1A-A2E9-E851-42ADDAF23E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9C1AF7-981E-4E5E-8E48-04A13CFCB12A}" type="slidenum">
              <a:rPr lang="en-IN" smtClean="0"/>
              <a:t>‹#›</a:t>
            </a:fld>
            <a:endParaRPr lang="en-IN"/>
          </a:p>
        </p:txBody>
      </p:sp>
    </p:spTree>
    <p:extLst>
      <p:ext uri="{BB962C8B-B14F-4D97-AF65-F5344CB8AC3E}">
        <p14:creationId xmlns:p14="http://schemas.microsoft.com/office/powerpoint/2010/main" val="4204862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
          <p:cNvSpPr txBox="1"/>
          <p:nvPr/>
        </p:nvSpPr>
        <p:spPr>
          <a:xfrm>
            <a:off x="2618502" y="5933496"/>
            <a:ext cx="6579900" cy="3693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99"/>
                </a:solidFill>
                <a:latin typeface="Times New Roman"/>
                <a:ea typeface="Times New Roman"/>
                <a:cs typeface="Times New Roman"/>
                <a:sym typeface="Times New Roman"/>
              </a:rPr>
              <a:t>Symbiosis Institute of Technology, Nagpur Campus (SIT-N)</a:t>
            </a:r>
            <a:endParaRPr sz="1800" b="1" i="0" u="none" strike="noStrike" cap="none" dirty="0">
              <a:solidFill>
                <a:srgbClr val="000099"/>
              </a:solidFill>
              <a:latin typeface="Times New Roman"/>
              <a:ea typeface="Times New Roman"/>
              <a:cs typeface="Times New Roman"/>
              <a:sym typeface="Times New Roman"/>
            </a:endParaRPr>
          </a:p>
        </p:txBody>
      </p:sp>
      <p:sp>
        <p:nvSpPr>
          <p:cNvPr id="154" name="Google Shape;154;p1"/>
          <p:cNvSpPr txBox="1"/>
          <p:nvPr/>
        </p:nvSpPr>
        <p:spPr>
          <a:xfrm>
            <a:off x="1119843" y="751384"/>
            <a:ext cx="9927236" cy="2677616"/>
          </a:xfrm>
          <a:prstGeom prst="rect">
            <a:avLst/>
          </a:prstGeom>
          <a:noFill/>
          <a:ln>
            <a:noFill/>
          </a:ln>
        </p:spPr>
        <p:txBody>
          <a:bodyPr spcFirstLastPara="1" wrap="square" lIns="91425" tIns="45700" rIns="91425" bIns="45700" anchor="ctr" anchorCtr="0">
            <a:spAutoFit/>
          </a:bodyPr>
          <a:lstStyle/>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Department of Computer Science and Engineering</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CA4: Mini Project</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Data Science (0705210707) </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Session: 2025-26</a:t>
            </a:r>
          </a:p>
          <a:p>
            <a:pPr algn="ctr"/>
            <a:endParaRPr lang="en-US" sz="2400" b="1" dirty="0">
              <a:solidFill>
                <a:srgbClr val="FF0000"/>
              </a:solidFill>
              <a:latin typeface="Times New Roman" panose="02020603050405020304" pitchFamily="18" charset="0"/>
              <a:cs typeface="Times New Roman" panose="02020603050405020304" pitchFamily="18" charset="0"/>
            </a:endParaRPr>
          </a:p>
          <a:p>
            <a:pPr algn="ctr"/>
            <a:r>
              <a:rPr lang="en-US" sz="2400" b="1" dirty="0">
                <a:solidFill>
                  <a:srgbClr val="FF0000"/>
                </a:solidFill>
                <a:latin typeface="Times New Roman" panose="02020603050405020304" pitchFamily="18" charset="0"/>
                <a:cs typeface="Times New Roman" panose="02020603050405020304" pitchFamily="18" charset="0"/>
              </a:rPr>
              <a:t>TITLE OF PROJECT - </a:t>
            </a:r>
            <a:r>
              <a:rPr lang="en-US" sz="2400" b="1" dirty="0" smtClean="0">
                <a:solidFill>
                  <a:srgbClr val="FF0000"/>
                </a:solidFill>
                <a:latin typeface="Times New Roman" panose="02020603050405020304" pitchFamily="18" charset="0"/>
                <a:cs typeface="Times New Roman" panose="02020603050405020304" pitchFamily="18" charset="0"/>
              </a:rPr>
              <a:t>Market </a:t>
            </a:r>
            <a:r>
              <a:rPr lang="en-US" sz="2400" b="1" dirty="0">
                <a:solidFill>
                  <a:srgbClr val="FF0000"/>
                </a:solidFill>
                <a:latin typeface="Times New Roman" panose="02020603050405020304" pitchFamily="18" charset="0"/>
                <a:cs typeface="Times New Roman" panose="02020603050405020304" pitchFamily="18" charset="0"/>
              </a:rPr>
              <a:t>Price Analysis and Prediction Using </a:t>
            </a:r>
            <a:r>
              <a:rPr lang="en-US" sz="2400" b="1" dirty="0" err="1">
                <a:solidFill>
                  <a:srgbClr val="FF0000"/>
                </a:solidFill>
                <a:latin typeface="Times New Roman" panose="02020603050405020304" pitchFamily="18" charset="0"/>
                <a:cs typeface="Times New Roman" panose="02020603050405020304" pitchFamily="18" charset="0"/>
              </a:rPr>
              <a:t>Streamlit</a:t>
            </a:r>
            <a:r>
              <a:rPr lang="en-US" sz="2400" b="1" dirty="0">
                <a:solidFill>
                  <a:srgbClr val="FF0000"/>
                </a:solidFill>
                <a:latin typeface="Times New Roman" panose="02020603050405020304" pitchFamily="18" charset="0"/>
                <a:cs typeface="Times New Roman" panose="02020603050405020304" pitchFamily="18" charset="0"/>
              </a:rPr>
              <a:t> and Machine Learning</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155" name="Google Shape;155;p1"/>
          <p:cNvSpPr txBox="1"/>
          <p:nvPr/>
        </p:nvSpPr>
        <p:spPr>
          <a:xfrm>
            <a:off x="1008178" y="3526876"/>
            <a:ext cx="3235524" cy="163117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Presented By:</a:t>
            </a: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Name: </a:t>
            </a:r>
            <a:r>
              <a:rPr lang="en-US" sz="2000" dirty="0" err="1" smtClean="0">
                <a:solidFill>
                  <a:srgbClr val="000099"/>
                </a:solidFill>
                <a:latin typeface="Times New Roman"/>
                <a:ea typeface="Times New Roman"/>
                <a:cs typeface="Times New Roman"/>
                <a:sym typeface="Times New Roman"/>
              </a:rPr>
              <a:t>Shaurya</a:t>
            </a:r>
            <a:r>
              <a:rPr lang="en-US" sz="2000" dirty="0" smtClean="0">
                <a:solidFill>
                  <a:srgbClr val="000099"/>
                </a:solidFill>
                <a:latin typeface="Times New Roman"/>
                <a:ea typeface="Times New Roman"/>
                <a:cs typeface="Times New Roman"/>
                <a:sym typeface="Times New Roman"/>
              </a:rPr>
              <a:t> </a:t>
            </a:r>
            <a:r>
              <a:rPr lang="en-US" sz="2000" dirty="0" err="1" smtClean="0">
                <a:solidFill>
                  <a:srgbClr val="000099"/>
                </a:solidFill>
                <a:latin typeface="Times New Roman"/>
                <a:ea typeface="Times New Roman"/>
                <a:cs typeface="Times New Roman"/>
                <a:sym typeface="Times New Roman"/>
              </a:rPr>
              <a:t>Potdukhe</a:t>
            </a:r>
            <a:endParaRPr lang="en-US" sz="2000" dirty="0">
              <a:solidFill>
                <a:srgbClr val="000099"/>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PRN: </a:t>
            </a:r>
            <a:r>
              <a:rPr lang="en-US" sz="2000" dirty="0" smtClean="0">
                <a:solidFill>
                  <a:srgbClr val="000099"/>
                </a:solidFill>
                <a:latin typeface="Times New Roman"/>
                <a:ea typeface="Times New Roman"/>
                <a:cs typeface="Times New Roman"/>
                <a:sym typeface="Times New Roman"/>
              </a:rPr>
              <a:t>22070521011</a:t>
            </a:r>
            <a:endParaRPr lang="en-US" sz="2000" dirty="0">
              <a:solidFill>
                <a:srgbClr val="000099"/>
              </a:solidFill>
              <a:latin typeface="Times New Roman"/>
              <a:ea typeface="Times New Roman"/>
              <a:cs typeface="Times New Roman"/>
              <a:sym typeface="Times New Roman"/>
            </a:endParaRPr>
          </a:p>
          <a:p>
            <a:pPr marL="0" marR="0" lvl="0" indent="0" rtl="0">
              <a:lnSpc>
                <a:spcPct val="100000"/>
              </a:lnSpc>
              <a:spcBef>
                <a:spcPts val="0"/>
              </a:spcBef>
              <a:spcAft>
                <a:spcPts val="0"/>
              </a:spcAft>
              <a:buClr>
                <a:srgbClr val="000000"/>
              </a:buClr>
              <a:buSzPts val="2000"/>
              <a:buFont typeface="Arial"/>
              <a:buNone/>
            </a:pPr>
            <a:endParaRPr lang="en-US" sz="2000" dirty="0">
              <a:solidFill>
                <a:srgbClr val="000099"/>
              </a:solidFill>
              <a:latin typeface="Times New Roman"/>
              <a:ea typeface="Times New Roman"/>
              <a:cs typeface="Times New Roman"/>
              <a:sym typeface="Times New Roman"/>
            </a:endParaRPr>
          </a:p>
          <a:p>
            <a:pPr marL="0" marR="0" lvl="0" indent="0" rtl="0">
              <a:lnSpc>
                <a:spcPct val="100000"/>
              </a:lnSpc>
              <a:spcBef>
                <a:spcPts val="0"/>
              </a:spcBef>
              <a:spcAft>
                <a:spcPts val="0"/>
              </a:spcAft>
              <a:buClr>
                <a:srgbClr val="000000"/>
              </a:buClr>
              <a:buSzPts val="2000"/>
              <a:buFont typeface="Arial"/>
              <a:buNone/>
            </a:pPr>
            <a:endParaRPr sz="2000" b="0" i="0" u="none" strike="noStrike" cap="none" dirty="0">
              <a:solidFill>
                <a:srgbClr val="000099"/>
              </a:solidFill>
              <a:latin typeface="Times New Roman"/>
              <a:ea typeface="Times New Roman"/>
              <a:cs typeface="Times New Roman"/>
              <a:sym typeface="Times New Roman"/>
            </a:endParaRPr>
          </a:p>
        </p:txBody>
      </p:sp>
      <p:grpSp>
        <p:nvGrpSpPr>
          <p:cNvPr id="156" name="Google Shape;156;p1"/>
          <p:cNvGrpSpPr/>
          <p:nvPr/>
        </p:nvGrpSpPr>
        <p:grpSpPr>
          <a:xfrm>
            <a:off x="4232" y="6382984"/>
            <a:ext cx="12192000" cy="476250"/>
            <a:chOff x="0" y="6381750"/>
            <a:chExt cx="12192000" cy="476250"/>
          </a:xfrm>
        </p:grpSpPr>
        <p:sp>
          <p:nvSpPr>
            <p:cNvPr id="157" name="Google Shape;157;p1"/>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nvGrpSpPr>
            <p:cNvPr id="158" name="Google Shape;158;p1"/>
            <p:cNvGrpSpPr/>
            <p:nvPr/>
          </p:nvGrpSpPr>
          <p:grpSpPr>
            <a:xfrm>
              <a:off x="160089" y="6467143"/>
              <a:ext cx="4087748" cy="273466"/>
              <a:chOff x="4366684" y="2926127"/>
              <a:chExt cx="3278335" cy="2571063"/>
            </a:xfrm>
          </p:grpSpPr>
          <p:sp>
            <p:nvSpPr>
              <p:cNvPr id="159" name="Google Shape;159;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0" name="Google Shape;160;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1" name="Google Shape;161;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2" name="Google Shape;162;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3" name="Google Shape;163;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4" name="Google Shape;164;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5" name="Google Shape;165;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6" name="Google Shape;166;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7" name="Google Shape;167;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8" name="Google Shape;168;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9" name="Google Shape;169;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0" name="Google Shape;170;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1" name="Google Shape;171;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2" name="Google Shape;172;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3" name="Google Shape;173;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4" name="Google Shape;174;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5" name="Google Shape;175;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6" name="Google Shape;176;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7" name="Google Shape;177;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8" name="Google Shape;178;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9" name="Google Shape;179;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0" name="Google Shape;180;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1" name="Google Shape;181;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2" name="Google Shape;182;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3" name="Google Shape;183;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4" name="Google Shape;184;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5" name="Google Shape;185;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6" name="Google Shape;186;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7" name="Google Shape;187;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8" name="Google Shape;188;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9" name="Google Shape;189;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0" name="Google Shape;190;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1" name="Google Shape;191;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2" name="Google Shape;192;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3" name="Google Shape;193;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grpSp>
      <p:pic>
        <p:nvPicPr>
          <p:cNvPr id="194" name="Google Shape;194;p1"/>
          <p:cNvPicPr preferRelativeResize="0"/>
          <p:nvPr/>
        </p:nvPicPr>
        <p:blipFill rotWithShape="1">
          <a:blip r:embed="rId3">
            <a:alphaModFix/>
          </a:blip>
          <a:srcRect l="2498" t="10584" r="1906" b="14835"/>
          <a:stretch/>
        </p:blipFill>
        <p:spPr>
          <a:xfrm>
            <a:off x="5014703" y="6416910"/>
            <a:ext cx="7150100" cy="431360"/>
          </a:xfrm>
          <a:prstGeom prst="rect">
            <a:avLst/>
          </a:prstGeom>
          <a:noFill/>
          <a:ln>
            <a:noFill/>
          </a:ln>
        </p:spPr>
      </p:pic>
      <p:grpSp>
        <p:nvGrpSpPr>
          <p:cNvPr id="195" name="Google Shape;195;p1"/>
          <p:cNvGrpSpPr/>
          <p:nvPr/>
        </p:nvGrpSpPr>
        <p:grpSpPr>
          <a:xfrm>
            <a:off x="166248" y="6490548"/>
            <a:ext cx="4247655" cy="273466"/>
            <a:chOff x="4366684" y="2926127"/>
            <a:chExt cx="3278335" cy="2571063"/>
          </a:xfrm>
        </p:grpSpPr>
        <p:sp>
          <p:nvSpPr>
            <p:cNvPr id="196" name="Google Shape;196;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97" name="Google Shape;197;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98" name="Google Shape;198;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99" name="Google Shape;199;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0" name="Google Shape;200;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1" name="Google Shape;201;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2" name="Google Shape;202;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3" name="Google Shape;203;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4" name="Google Shape;204;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5" name="Google Shape;205;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6" name="Google Shape;206;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7" name="Google Shape;207;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8" name="Google Shape;208;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9" name="Google Shape;209;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0" name="Google Shape;210;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1" name="Google Shape;211;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2" name="Google Shape;212;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3" name="Google Shape;213;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4" name="Google Shape;214;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5" name="Google Shape;215;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6" name="Google Shape;216;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7" name="Google Shape;217;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8" name="Google Shape;218;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9" name="Google Shape;219;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0" name="Google Shape;220;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1" name="Google Shape;221;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2" name="Google Shape;222;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3" name="Google Shape;223;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4" name="Google Shape;224;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5" name="Google Shape;225;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6" name="Google Shape;226;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7" name="Google Shape;227;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8" name="Google Shape;228;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9" name="Google Shape;229;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30" name="Google Shape;230;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grpSp>
      <p:pic>
        <p:nvPicPr>
          <p:cNvPr id="232" name="Google Shape;232;p1" descr="SCSCR"/>
          <p:cNvPicPr preferRelativeResize="0"/>
          <p:nvPr/>
        </p:nvPicPr>
        <p:blipFill rotWithShape="1">
          <a:blip r:embed="rId4">
            <a:alphaModFix/>
          </a:blip>
          <a:srcRect/>
          <a:stretch/>
        </p:blipFill>
        <p:spPr>
          <a:xfrm>
            <a:off x="11112500" y="62669"/>
            <a:ext cx="1047277" cy="1074253"/>
          </a:xfrm>
          <a:prstGeom prst="rect">
            <a:avLst/>
          </a:prstGeom>
          <a:noFill/>
          <a:ln>
            <a:noFill/>
          </a:ln>
        </p:spPr>
      </p:pic>
      <p:grpSp>
        <p:nvGrpSpPr>
          <p:cNvPr id="233" name="Google Shape;233;p1"/>
          <p:cNvGrpSpPr/>
          <p:nvPr/>
        </p:nvGrpSpPr>
        <p:grpSpPr>
          <a:xfrm>
            <a:off x="4232" y="6382984"/>
            <a:ext cx="12192000" cy="476250"/>
            <a:chOff x="0" y="6381750"/>
            <a:chExt cx="12192000" cy="476250"/>
          </a:xfrm>
        </p:grpSpPr>
        <p:sp>
          <p:nvSpPr>
            <p:cNvPr id="234" name="Google Shape;234;p1"/>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nvGrpSpPr>
            <p:cNvPr id="235" name="Google Shape;235;p1"/>
            <p:cNvGrpSpPr/>
            <p:nvPr/>
          </p:nvGrpSpPr>
          <p:grpSpPr>
            <a:xfrm>
              <a:off x="160089" y="6467143"/>
              <a:ext cx="4087748" cy="273466"/>
              <a:chOff x="4366684" y="2926127"/>
              <a:chExt cx="3278335" cy="2571063"/>
            </a:xfrm>
          </p:grpSpPr>
          <p:sp>
            <p:nvSpPr>
              <p:cNvPr id="236" name="Google Shape;236;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7" name="Google Shape;237;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8" name="Google Shape;238;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9" name="Google Shape;239;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0" name="Google Shape;240;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1" name="Google Shape;241;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2" name="Google Shape;242;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3" name="Google Shape;243;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4" name="Google Shape;244;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5" name="Google Shape;245;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6" name="Google Shape;246;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7" name="Google Shape;247;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8" name="Google Shape;248;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9" name="Google Shape;249;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0" name="Google Shape;250;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1" name="Google Shape;251;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2" name="Google Shape;252;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3" name="Google Shape;253;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4" name="Google Shape;254;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5" name="Google Shape;255;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6" name="Google Shape;256;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7" name="Google Shape;257;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8" name="Google Shape;258;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9" name="Google Shape;259;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0" name="Google Shape;260;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1" name="Google Shape;261;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2" name="Google Shape;262;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3" name="Google Shape;263;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4" name="Google Shape;264;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5" name="Google Shape;265;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6" name="Google Shape;266;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7" name="Google Shape;267;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8" name="Google Shape;268;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9" name="Google Shape;269;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70" name="Google Shape;270;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grpSp>
      <p:grpSp>
        <p:nvGrpSpPr>
          <p:cNvPr id="271" name="Google Shape;271;p1"/>
          <p:cNvGrpSpPr/>
          <p:nvPr/>
        </p:nvGrpSpPr>
        <p:grpSpPr>
          <a:xfrm>
            <a:off x="450920" y="6490548"/>
            <a:ext cx="4247655" cy="273466"/>
            <a:chOff x="4366684" y="2926127"/>
            <a:chExt cx="3278335" cy="2571063"/>
          </a:xfrm>
        </p:grpSpPr>
        <p:sp>
          <p:nvSpPr>
            <p:cNvPr id="272" name="Google Shape;272;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3" name="Google Shape;273;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4" name="Google Shape;274;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5" name="Google Shape;275;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6" name="Google Shape;276;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7" name="Google Shape;277;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8" name="Google Shape;278;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9" name="Google Shape;279;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0" name="Google Shape;280;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1" name="Google Shape;281;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2" name="Google Shape;282;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3" name="Google Shape;283;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4" name="Google Shape;284;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5" name="Google Shape;285;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6" name="Google Shape;286;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7" name="Google Shape;287;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8" name="Google Shape;288;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9" name="Google Shape;289;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0" name="Google Shape;290;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1" name="Google Shape;291;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2" name="Google Shape;292;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3" name="Google Shape;293;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4" name="Google Shape;294;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5" name="Google Shape;295;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6" name="Google Shape;296;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7" name="Google Shape;297;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8" name="Google Shape;298;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9" name="Google Shape;299;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0" name="Google Shape;300;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1" name="Google Shape;301;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2" name="Google Shape;302;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3" name="Google Shape;303;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4" name="Google Shape;304;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5" name="Google Shape;305;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6" name="Google Shape;306;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grpSp>
      <p:pic>
        <p:nvPicPr>
          <p:cNvPr id="308" name="Picture 307">
            <a:extLst>
              <a:ext uri="{FF2B5EF4-FFF2-40B4-BE49-F238E27FC236}">
                <a16:creationId xmlns:a16="http://schemas.microsoft.com/office/drawing/2014/main" id="{A095A2E8-533C-7DF9-5C5D-9BAF98CB5E5D}"/>
              </a:ext>
            </a:extLst>
          </p:cNvPr>
          <p:cNvPicPr>
            <a:picLocks noChangeAspect="1"/>
          </p:cNvPicPr>
          <p:nvPr/>
        </p:nvPicPr>
        <p:blipFill>
          <a:blip r:embed="rId5"/>
          <a:stretch>
            <a:fillRect/>
          </a:stretch>
        </p:blipFill>
        <p:spPr>
          <a:xfrm>
            <a:off x="1070691" y="165315"/>
            <a:ext cx="10025540" cy="488193"/>
          </a:xfrm>
          <a:prstGeom prst="rect">
            <a:avLst/>
          </a:prstGeom>
        </p:spPr>
      </p:pic>
      <p:pic>
        <p:nvPicPr>
          <p:cNvPr id="309" name="Picture 308">
            <a:extLst>
              <a:ext uri="{FF2B5EF4-FFF2-40B4-BE49-F238E27FC236}">
                <a16:creationId xmlns:a16="http://schemas.microsoft.com/office/drawing/2014/main" id="{1D6B6D71-EB36-E192-D618-E38FFDDA937E}"/>
              </a:ext>
            </a:extLst>
          </p:cNvPr>
          <p:cNvPicPr>
            <a:picLocks noChangeAspect="1"/>
          </p:cNvPicPr>
          <p:nvPr/>
        </p:nvPicPr>
        <p:blipFill>
          <a:blip r:embed="rId6"/>
          <a:stretch>
            <a:fillRect/>
          </a:stretch>
        </p:blipFill>
        <p:spPr>
          <a:xfrm>
            <a:off x="162115" y="83039"/>
            <a:ext cx="751095" cy="830622"/>
          </a:xfrm>
          <a:prstGeom prst="rect">
            <a:avLst/>
          </a:prstGeom>
        </p:spPr>
      </p:pic>
      <p:sp>
        <p:nvSpPr>
          <p:cNvPr id="231" name="Google Shape;307;p1"/>
          <p:cNvSpPr txBox="1"/>
          <p:nvPr/>
        </p:nvSpPr>
        <p:spPr>
          <a:xfrm>
            <a:off x="7948299" y="3429000"/>
            <a:ext cx="3687839" cy="2246729"/>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Mentor: </a:t>
            </a: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Name: Dr. Piyush Chauhan</a:t>
            </a: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Designation: Associate Professor  (Examination Incharge)</a:t>
            </a:r>
          </a:p>
          <a:p>
            <a:pPr algn="ctr">
              <a:buSzPts val="2000"/>
            </a:pPr>
            <a:r>
              <a:rPr lang="en-US" sz="2000" dirty="0">
                <a:solidFill>
                  <a:srgbClr val="000099"/>
                </a:solidFill>
                <a:latin typeface="Times New Roman"/>
                <a:ea typeface="Times New Roman"/>
                <a:cs typeface="Times New Roman"/>
                <a:sym typeface="Times New Roman"/>
              </a:rPr>
              <a:t>Department of Computer Science &amp; Engineering</a:t>
            </a:r>
          </a:p>
          <a:p>
            <a:pPr marL="0" marR="0" lvl="0" indent="0" algn="ctr" rtl="0">
              <a:lnSpc>
                <a:spcPct val="100000"/>
              </a:lnSpc>
              <a:spcBef>
                <a:spcPts val="0"/>
              </a:spcBef>
              <a:spcAft>
                <a:spcPts val="0"/>
              </a:spcAft>
              <a:buClr>
                <a:srgbClr val="000000"/>
              </a:buClr>
              <a:buSzPts val="2000"/>
              <a:buFont typeface="Arial"/>
              <a:buNone/>
            </a:pPr>
            <a:endParaRPr lang="en-US" sz="2000" b="0" i="0" u="none" strike="noStrike" cap="none" dirty="0">
              <a:solidFill>
                <a:srgbClr val="000099"/>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Problem Statement</a:t>
            </a:r>
          </a:p>
        </p:txBody>
      </p:sp>
      <p:sp>
        <p:nvSpPr>
          <p:cNvPr id="7" name="TextBox 6">
            <a:extLst>
              <a:ext uri="{FF2B5EF4-FFF2-40B4-BE49-F238E27FC236}">
                <a16:creationId xmlns:a16="http://schemas.microsoft.com/office/drawing/2014/main" id="{08D3F5ED-3EEE-A044-92DC-46C868F813A4}"/>
              </a:ext>
            </a:extLst>
          </p:cNvPr>
          <p:cNvSpPr txBox="1"/>
          <p:nvPr/>
        </p:nvSpPr>
        <p:spPr>
          <a:xfrm>
            <a:off x="553593" y="1778808"/>
            <a:ext cx="11084814" cy="347787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fluctuation in commodity prices over time affects both producers and consumers, making it crucial to understand and predict price trends. This project aims to analyze the commodity market price data from 2020 to 2025 using Exploratory Data Analysis (EDA) techniques to uncover key patterns, trends, and relationships, and to apply machine learning algorithms such as clustering and classification to identify commodity groups and predict high or low price categories. An interactive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dashboard is developed to visualize insights and enable real-time analysis</a:t>
            </a:r>
            <a:r>
              <a:rPr lang="en-US" sz="2000" dirty="0" smtClean="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project aims to analyze and predict commodity price trends between 2020 and 2025 using data science techniques. Exploratory Data Analysis (EDA) is used to uncover patterns in pricing behavior, while clustering and classification algorithms help group commodities and predict price categories. The entire workflow is deployed as an interactive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dashboard for visualization and decision-making support.</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243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Dataset Overview</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8D3F5ED-3EEE-A044-92DC-46C868F813A4}"/>
              </a:ext>
            </a:extLst>
          </p:cNvPr>
          <p:cNvSpPr txBox="1"/>
          <p:nvPr/>
        </p:nvSpPr>
        <p:spPr>
          <a:xfrm>
            <a:off x="553593" y="1778808"/>
            <a:ext cx="11084814" cy="406265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Dataset Name: Commodity Market Price (2020–2025)</a:t>
            </a:r>
          </a:p>
          <a:p>
            <a:pPr algn="just"/>
            <a:r>
              <a:rPr lang="en-US" sz="2000" dirty="0">
                <a:latin typeface="Times New Roman" panose="02020603050405020304" pitchFamily="18" charset="0"/>
                <a:cs typeface="Times New Roman" panose="02020603050405020304" pitchFamily="18" charset="0"/>
              </a:rPr>
              <a:t>• Source: https://www.data.gov.in/resource/variety-wise-daily-market-prices-data-commodity</a:t>
            </a:r>
          </a:p>
          <a:p>
            <a:pPr algn="just"/>
            <a:r>
              <a:rPr lang="en-US" sz="2000" dirty="0">
                <a:latin typeface="Times New Roman" panose="02020603050405020304" pitchFamily="18" charset="0"/>
                <a:cs typeface="Times New Roman" panose="02020603050405020304" pitchFamily="18" charset="0"/>
              </a:rPr>
              <a:t>• Time Period: 2020–2025</a:t>
            </a:r>
          </a:p>
          <a:p>
            <a:pPr algn="just"/>
            <a:r>
              <a:rPr lang="en-US" sz="2000" dirty="0">
                <a:latin typeface="Times New Roman" panose="02020603050405020304" pitchFamily="18" charset="0"/>
                <a:cs typeface="Times New Roman" panose="02020603050405020304" pitchFamily="18" charset="0"/>
              </a:rPr>
              <a:t>• Records: 100,000+ entries</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Key Attributes:</a:t>
            </a:r>
          </a:p>
          <a:p>
            <a:pPr algn="just"/>
            <a:r>
              <a:rPr lang="en-US" sz="2000" dirty="0">
                <a:latin typeface="Times New Roman" panose="02020603050405020304" pitchFamily="18" charset="0"/>
                <a:cs typeface="Times New Roman" panose="02020603050405020304" pitchFamily="18" charset="0"/>
              </a:rPr>
              <a:t>• Market – Name of the market/</a:t>
            </a:r>
            <a:r>
              <a:rPr lang="en-US" sz="2000" dirty="0" err="1">
                <a:latin typeface="Times New Roman" panose="02020603050405020304" pitchFamily="18" charset="0"/>
                <a:cs typeface="Times New Roman" panose="02020603050405020304" pitchFamily="18" charset="0"/>
              </a:rPr>
              <a:t>mandi</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Commodity – Name of agricultural commodity</a:t>
            </a:r>
          </a:p>
          <a:p>
            <a:pPr algn="just"/>
            <a:r>
              <a:rPr lang="en-US" sz="2000" dirty="0">
                <a:latin typeface="Times New Roman" panose="02020603050405020304" pitchFamily="18" charset="0"/>
                <a:cs typeface="Times New Roman" panose="02020603050405020304" pitchFamily="18" charset="0"/>
              </a:rPr>
              <a:t>• Variety – Specific variety of the commodity</a:t>
            </a:r>
          </a:p>
          <a:p>
            <a:pPr algn="just"/>
            <a:r>
              <a:rPr lang="en-US" sz="2000" dirty="0">
                <a:latin typeface="Times New Roman" panose="02020603050405020304" pitchFamily="18" charset="0"/>
                <a:cs typeface="Times New Roman" panose="02020603050405020304" pitchFamily="18" charset="0"/>
              </a:rPr>
              <a:t>• Grade – Quality/grade classification</a:t>
            </a:r>
          </a:p>
          <a:p>
            <a:pPr algn="just"/>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Arrival_Date</a:t>
            </a:r>
            <a:r>
              <a:rPr lang="en-US" sz="2000" dirty="0">
                <a:latin typeface="Times New Roman" panose="02020603050405020304" pitchFamily="18" charset="0"/>
                <a:cs typeface="Times New Roman" panose="02020603050405020304" pitchFamily="18" charset="0"/>
              </a:rPr>
              <a:t> – Date of record</a:t>
            </a:r>
          </a:p>
          <a:p>
            <a:pPr algn="just"/>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Min_Price</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Max_Price</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Modal_Price</a:t>
            </a:r>
            <a:r>
              <a:rPr lang="en-US" sz="2000" dirty="0">
                <a:latin typeface="Times New Roman" panose="02020603050405020304" pitchFamily="18" charset="0"/>
                <a:cs typeface="Times New Roman" panose="02020603050405020304" pitchFamily="18" charset="0"/>
              </a:rPr>
              <a:t> – Price details in ₹</a:t>
            </a:r>
          </a:p>
          <a:p>
            <a:pPr algn="just"/>
            <a:r>
              <a:rPr lang="en-US" sz="2000" dirty="0">
                <a:latin typeface="Times New Roman" panose="02020603050405020304" pitchFamily="18" charset="0"/>
                <a:cs typeface="Times New Roman" panose="02020603050405020304" pitchFamily="18" charset="0"/>
              </a:rPr>
              <a:t>• Year – Extracted from </a:t>
            </a:r>
            <a:r>
              <a:rPr lang="en-US" sz="2000" dirty="0" err="1">
                <a:latin typeface="Times New Roman" panose="02020603050405020304" pitchFamily="18" charset="0"/>
                <a:cs typeface="Times New Roman" panose="02020603050405020304" pitchFamily="18" charset="0"/>
              </a:rPr>
              <a:t>Arrival_Date</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808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Project Objectives</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8D3F5ED-3EEE-A044-92DC-46C868F813A4}"/>
              </a:ext>
            </a:extLst>
          </p:cNvPr>
          <p:cNvSpPr txBox="1"/>
          <p:nvPr/>
        </p:nvSpPr>
        <p:spPr>
          <a:xfrm>
            <a:off x="553593" y="1778808"/>
            <a:ext cx="11084814"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 To analyze commodity price fluctuations from 2020–2025</a:t>
            </a:r>
            <a:r>
              <a:rPr lang="en-US" sz="2000" dirty="0" smtClean="0">
                <a:latin typeface="Times New Roman" panose="02020603050405020304" pitchFamily="18" charset="0"/>
                <a:cs typeface="Times New Roman" panose="02020603050405020304" pitchFamily="18" charset="0"/>
              </a:rPr>
              <a:t>.</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To perform Exploratory Data Analysis (EDA) for trend and pattern discovery.</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group similar commodities using clustering algorithms (K-Means).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predict high or low price categories using classification models.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develop an interactive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dashboard for visualization.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6562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Methodology</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8D3F5ED-3EEE-A044-92DC-46C868F813A4}"/>
              </a:ext>
            </a:extLst>
          </p:cNvPr>
          <p:cNvSpPr txBox="1"/>
          <p:nvPr/>
        </p:nvSpPr>
        <p:spPr>
          <a:xfrm>
            <a:off x="553593" y="1778808"/>
            <a:ext cx="11084814" cy="378565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1. Data Collection – Dataset downloaded from data.gov.in.</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Data Preprocessing – Handling missing values, formatting dates, and encoding categorical variables.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Exploratory Data Analysis (EDA) – Visualizing price trends, volatility, and market patterns.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Clustering – Applying K-Means to identify similar commodity groups.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5</a:t>
            </a:r>
            <a:r>
              <a:rPr lang="en-US" sz="2000" dirty="0">
                <a:latin typeface="Times New Roman" panose="02020603050405020304" pitchFamily="18" charset="0"/>
                <a:cs typeface="Times New Roman" panose="02020603050405020304" pitchFamily="18" charset="0"/>
              </a:rPr>
              <a:t>. Classification – Using Logistic Regression and Random Forest to classify commodities as High/Low price.</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Dashboard – Building an interactive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web application for dynamic insights.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2028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Exploratory Data Analysis (EDA)</a:t>
            </a:r>
            <a:endParaRPr lang="en-US" sz="2800" b="1" dirty="0">
              <a:solidFill>
                <a:srgbClr val="FF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918440" y="1098921"/>
            <a:ext cx="10355120" cy="50203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83246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smtClean="0">
                <a:solidFill>
                  <a:srgbClr val="FF0000"/>
                </a:solidFill>
                <a:latin typeface="Times New Roman" panose="02020603050405020304" pitchFamily="18" charset="0"/>
                <a:cs typeface="Times New Roman" panose="02020603050405020304" pitchFamily="18" charset="0"/>
              </a:rPr>
              <a:t>Simple and Multiple Linear Regression</a:t>
            </a:r>
            <a:endParaRPr lang="en-US" sz="2800" b="1" dirty="0">
              <a:solidFill>
                <a:srgbClr val="FF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537387" y="1195446"/>
            <a:ext cx="11117226" cy="53537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834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K-Means Clustering</a:t>
            </a:r>
            <a:endParaRPr lang="en-US" sz="2800" b="1"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465939" y="1128391"/>
            <a:ext cx="11260121" cy="46012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48425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smtClean="0">
                <a:solidFill>
                  <a:srgbClr val="FF0000"/>
                </a:solidFill>
                <a:latin typeface="Times New Roman" panose="02020603050405020304" pitchFamily="18" charset="0"/>
                <a:cs typeface="Times New Roman" panose="02020603050405020304" pitchFamily="18" charset="0"/>
              </a:rPr>
              <a:t>Logistic Regression</a:t>
            </a:r>
            <a:endParaRPr lang="en-US" sz="2800" b="1" dirty="0">
              <a:solidFill>
                <a:srgbClr val="FF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341418" y="1118388"/>
            <a:ext cx="7841672" cy="52585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04963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Random Forest Classifier</a:t>
            </a:r>
            <a:endParaRPr lang="en-US" sz="2800" b="1" dirty="0">
              <a:solidFill>
                <a:srgbClr val="FF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382983" y="928338"/>
            <a:ext cx="7703126" cy="56525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0713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Model Comparison</a:t>
            </a:r>
            <a:endParaRPr lang="en-US" sz="2800" b="1"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86691" y="1340167"/>
            <a:ext cx="10723418" cy="45895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76565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Key Findings</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8D3F5ED-3EEE-A044-92DC-46C868F813A4}"/>
              </a:ext>
            </a:extLst>
          </p:cNvPr>
          <p:cNvSpPr txBox="1"/>
          <p:nvPr/>
        </p:nvSpPr>
        <p:spPr>
          <a:xfrm>
            <a:off x="553593" y="1778808"/>
            <a:ext cx="11084814"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 Significant variation observed in commodity prices between 2020–2025.</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Clustering grouped commodities based on similar yearly trends.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Random Forest outperformed Logistic Regression in prediction accuracy.</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Price trends show seasonal dependencies and market-specific behavior.</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app simplifies real-time price analysis and visualization.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2940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a:solidFill>
                  <a:srgbClr val="FF0000"/>
                </a:solidFill>
                <a:latin typeface="Times New Roman" panose="02020603050405020304" pitchFamily="18" charset="0"/>
                <a:cs typeface="Times New Roman" panose="02020603050405020304" pitchFamily="18" charset="0"/>
              </a:rPr>
              <a:t>References</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8D3F5ED-3EEE-A044-92DC-46C868F813A4}"/>
              </a:ext>
            </a:extLst>
          </p:cNvPr>
          <p:cNvSpPr txBox="1"/>
          <p:nvPr/>
        </p:nvSpPr>
        <p:spPr>
          <a:xfrm>
            <a:off x="553593" y="1778808"/>
            <a:ext cx="11084814" cy="2862322"/>
          </a:xfrm>
          <a:prstGeom prst="rect">
            <a:avLst/>
          </a:prstGeom>
          <a:noFill/>
        </p:spPr>
        <p:txBody>
          <a:bodyPr wrap="square">
            <a:spAutoFit/>
          </a:bodyPr>
          <a:lstStyle/>
          <a:p>
            <a:pPr algn="just"/>
            <a:r>
              <a:rPr lang="en-US" sz="2000" dirty="0" smtClean="0">
                <a:latin typeface="Times New Roman" panose="02020603050405020304" pitchFamily="18" charset="0"/>
                <a:cs typeface="Times New Roman" panose="02020603050405020304" pitchFamily="18" charset="0"/>
              </a:rPr>
              <a:t>• Dataset </a:t>
            </a:r>
            <a:r>
              <a:rPr lang="en-US" sz="2000" dirty="0">
                <a:latin typeface="Times New Roman" panose="02020603050405020304" pitchFamily="18" charset="0"/>
                <a:cs typeface="Times New Roman" panose="02020603050405020304" pitchFamily="18" charset="0"/>
              </a:rPr>
              <a:t>- https://www.data.gov.in/resource/variety-wise-daily-market-prices-data-commodity</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Documentation – https://streamlit.io</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Scikit</a:t>
            </a:r>
            <a:r>
              <a:rPr lang="en-US" sz="2000" dirty="0">
                <a:latin typeface="Times New Roman" panose="02020603050405020304" pitchFamily="18" charset="0"/>
                <a:cs typeface="Times New Roman" panose="02020603050405020304" pitchFamily="18" charset="0"/>
              </a:rPr>
              <a:t>-learn Library – https://scikit-learn.org</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 &amp; </a:t>
            </a:r>
            <a:r>
              <a:rPr lang="en-US" sz="2000" dirty="0" err="1">
                <a:latin typeface="Times New Roman" panose="02020603050405020304" pitchFamily="18" charset="0"/>
                <a:cs typeface="Times New Roman" panose="02020603050405020304" pitchFamily="18" charset="0"/>
              </a:rPr>
              <a:t>Seaborn</a:t>
            </a:r>
            <a:r>
              <a:rPr lang="en-US" sz="2000" dirty="0">
                <a:latin typeface="Times New Roman" panose="02020603050405020304" pitchFamily="18" charset="0"/>
                <a:cs typeface="Times New Roman" panose="02020603050405020304" pitchFamily="18" charset="0"/>
              </a:rPr>
              <a:t> Libraries</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Python Official Documentation – https://python.org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593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0" y="2871527"/>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4400" b="1" dirty="0">
                <a:solidFill>
                  <a:srgbClr val="FF0000"/>
                </a:solidFill>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3034023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573</Words>
  <Application>Microsoft Office PowerPoint</Application>
  <PresentationFormat>Widescreen</PresentationFormat>
  <Paragraphs>81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Shreyas Kasture</dc:creator>
  <cp:lastModifiedBy>Dell</cp:lastModifiedBy>
  <cp:revision>8</cp:revision>
  <dcterms:created xsi:type="dcterms:W3CDTF">2025-11-01T06:22:55Z</dcterms:created>
  <dcterms:modified xsi:type="dcterms:W3CDTF">2025-11-01T07:51:16Z</dcterms:modified>
</cp:coreProperties>
</file>